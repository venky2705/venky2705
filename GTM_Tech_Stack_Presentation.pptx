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GTM Tech Stack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AI-Native Command Center for Revenue Operations</a:t>
            </a:r>
          </a:p>
          <a:p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🎯 Unified GTM operations platform powering revenue growth</a:t>
            </a:r>
          </a:p>
          <a:p>
            <a:pPr>
              <a:spcAft>
                <a:spcPts val="1200"/>
              </a:spcAft>
              <a:defRPr sz="1800"/>
            </a:pPr>
            <a:r>
              <a:t>🤖 AI-native architecture across all revenue touchpoints</a:t>
            </a:r>
          </a:p>
          <a:p>
            <a:pPr>
              <a:spcAft>
                <a:spcPts val="1200"/>
              </a:spcAft>
              <a:defRPr sz="1800"/>
            </a:pPr>
            <a:r>
              <a:t>📊 Real-time intelligence from prospecting to customer success</a:t>
            </a:r>
          </a:p>
          <a:p>
            <a:pPr>
              <a:spcAft>
                <a:spcPts val="1200"/>
              </a:spcAft>
              <a:defRPr sz="1800"/>
            </a:pPr>
            <a:r>
              <a:t>⚡ Automated workflows reducing manual effort by 60%</a:t>
            </a:r>
          </a:p>
          <a:p>
            <a:pPr>
              <a:spcAft>
                <a:spcPts val="1200"/>
              </a:spcAft>
              <a:defRPr sz="1800"/>
            </a:pPr>
            <a:r>
              <a:t>🔗 Seamless integration across 15+ mission-critical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Core Revenue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💼 Salesforce - CRM &amp; Revenue Operations Hub</a:t>
            </a:r>
          </a:p>
          <a:p>
            <a:pPr>
              <a:spcAft>
                <a:spcPts val="1200"/>
              </a:spcAft>
              <a:defRPr sz="1800"/>
            </a:pPr>
            <a:r>
              <a:t>  • Single source of truth for all customer data</a:t>
            </a:r>
          </a:p>
          <a:p>
            <a:pPr>
              <a:spcAft>
                <a:spcPts val="1200"/>
              </a:spcAft>
              <a:defRPr sz="1800"/>
            </a:pPr>
            <a:r>
              <a:t>  • Custom automation for deal progression</a:t>
            </a:r>
          </a:p>
          <a:p>
            <a:pPr>
              <a:spcAft>
                <a:spcPts val="1200"/>
              </a:spcAft>
              <a:defRPr sz="1800"/>
            </a:pPr>
            <a:r>
              <a:t>  • AI-powered forecasting and pipeline management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📈 ChartMogul - Revenue Analytics &amp; MRR Tracking</a:t>
            </a:r>
          </a:p>
          <a:p>
            <a:pPr>
              <a:spcAft>
                <a:spcPts val="1200"/>
              </a:spcAft>
              <a:defRPr sz="1800"/>
            </a:pPr>
            <a:r>
              <a:t>  • Subscription metrics and cohort analysis</a:t>
            </a:r>
          </a:p>
          <a:p>
            <a:pPr>
              <a:spcAft>
                <a:spcPts val="1200"/>
              </a:spcAft>
              <a:defRPr sz="1800"/>
            </a:pPr>
            <a:r>
              <a:t>  • Customer lifetime value modeling</a:t>
            </a:r>
          </a:p>
          <a:p>
            <a:pPr>
              <a:spcAft>
                <a:spcPts val="1200"/>
              </a:spcAft>
              <a:defRPr sz="1800"/>
            </a:pPr>
            <a:r>
              <a:t>  • Churn prediction and retention insights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🎙️ Gong - Conversation Intelligence</a:t>
            </a:r>
          </a:p>
          <a:p>
            <a:pPr>
              <a:spcAft>
                <a:spcPts val="1200"/>
              </a:spcAft>
              <a:defRPr sz="1800"/>
            </a:pPr>
            <a:r>
              <a:t>  • AI-powered call analysis and coaching</a:t>
            </a:r>
          </a:p>
          <a:p>
            <a:pPr>
              <a:spcAft>
                <a:spcPts val="1200"/>
              </a:spcAft>
              <a:defRPr sz="1800"/>
            </a:pPr>
            <a:r>
              <a:t>  • Deal risk detection and win/loss insights</a:t>
            </a:r>
          </a:p>
          <a:p>
            <a:pPr>
              <a:spcAft>
                <a:spcPts val="1200"/>
              </a:spcAft>
              <a:defRPr sz="1800"/>
            </a:pPr>
            <a:r>
              <a:t>  • Rep performance benchmarking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GTM Enablement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🧠 GTMBuddy - Sales Enablement &amp; Content AI</a:t>
            </a:r>
          </a:p>
          <a:p>
            <a:pPr>
              <a:spcAft>
                <a:spcPts val="1200"/>
              </a:spcAft>
              <a:defRPr sz="1800"/>
            </a:pPr>
            <a:r>
              <a:t>  • Just-in-time content recommendations</a:t>
            </a:r>
          </a:p>
          <a:p>
            <a:pPr>
              <a:spcAft>
                <a:spcPts val="1200"/>
              </a:spcAft>
              <a:defRPr sz="1800"/>
            </a:pPr>
            <a:r>
              <a:t>  • AI-generated battlecards and objection handling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🔍 Clay - Data Enrichment &amp; Prospecting</a:t>
            </a:r>
          </a:p>
          <a:p>
            <a:pPr>
              <a:spcAft>
                <a:spcPts val="1200"/>
              </a:spcAft>
              <a:defRPr sz="1800"/>
            </a:pPr>
            <a:r>
              <a:t>  • Automated lead enrichment from 50+ data sources</a:t>
            </a:r>
          </a:p>
          <a:p>
            <a:pPr>
              <a:spcAft>
                <a:spcPts val="1200"/>
              </a:spcAft>
              <a:defRPr sz="1800"/>
            </a:pPr>
            <a:r>
              <a:t>  • AI-powered ideal customer profile (ICP) scoring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📞 JustCall - Cloud Contact Center</a:t>
            </a:r>
          </a:p>
          <a:p>
            <a:pPr>
              <a:spcAft>
                <a:spcPts val="1200"/>
              </a:spcAft>
              <a:defRPr sz="1800"/>
            </a:pPr>
            <a:r>
              <a:t>  • Omnichannel customer communications</a:t>
            </a:r>
          </a:p>
          <a:p>
            <a:pPr>
              <a:spcAft>
                <a:spcPts val="1200"/>
              </a:spcAft>
              <a:defRPr sz="1800"/>
            </a:pPr>
            <a:r>
              <a:t>  • Call recording and sentiment analysis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📊 Amplitude - Product Analytics</a:t>
            </a:r>
          </a:p>
          <a:p>
            <a:pPr>
              <a:spcAft>
                <a:spcPts val="1200"/>
              </a:spcAft>
              <a:defRPr sz="1800"/>
            </a:pPr>
            <a:r>
              <a:t>  • User behavior tracking and cohort analysis</a:t>
            </a:r>
          </a:p>
          <a:p>
            <a:pPr>
              <a:spcAft>
                <a:spcPts val="1200"/>
              </a:spcAft>
              <a:defRPr sz="1800"/>
            </a:pPr>
            <a:r>
              <a:t>  • Product-led growth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AI-Native Command Center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🤖 AI Integration Layer:</a:t>
            </a:r>
          </a:p>
          <a:p>
            <a:pPr>
              <a:spcAft>
                <a:spcPts val="1000"/>
              </a:spcAft>
              <a:defRPr sz="1600"/>
            </a:pPr>
            <a:r>
              <a:t>• Claude API for natural language processing</a:t>
            </a:r>
          </a:p>
          <a:p>
            <a:pPr>
              <a:spcAft>
                <a:spcPts val="1000"/>
              </a:spcAft>
              <a:defRPr sz="1600"/>
            </a:pPr>
            <a:r>
              <a:t>• Custom AI agents for workflow automation</a:t>
            </a:r>
          </a:p>
          <a:p>
            <a:pPr>
              <a:spcAft>
                <a:spcPts val="1000"/>
              </a:spcAft>
              <a:defRPr sz="1600"/>
            </a:pPr>
            <a:r>
              <a:t>• Real-time data synthesis across platforms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🔄 Automation Framework:</a:t>
            </a:r>
          </a:p>
          <a:p>
            <a:pPr>
              <a:spcAft>
                <a:spcPts val="1000"/>
              </a:spcAft>
              <a:defRPr sz="1600"/>
            </a:pPr>
            <a:r>
              <a:t>• Zapier/Make for no-code workflows</a:t>
            </a:r>
          </a:p>
          <a:p>
            <a:pPr>
              <a:spcAft>
                <a:spcPts val="1000"/>
              </a:spcAft>
              <a:defRPr sz="1600"/>
            </a:pPr>
            <a:r>
              <a:t>• Custom API integrations</a:t>
            </a:r>
          </a:p>
          <a:p>
            <a:pPr>
              <a:spcAft>
                <a:spcPts val="1000"/>
              </a:spcAft>
              <a:defRPr sz="1600"/>
            </a:pPr>
            <a:r>
              <a:t>• Event-driven triggers and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📡 Data Infrastructure:</a:t>
            </a:r>
          </a:p>
          <a:p>
            <a:pPr>
              <a:spcAft>
                <a:spcPts val="1000"/>
              </a:spcAft>
              <a:defRPr sz="1600"/>
            </a:pPr>
            <a:r>
              <a:t>• Centralized data warehouse (Snowflake/BigQuery)</a:t>
            </a:r>
          </a:p>
          <a:p>
            <a:pPr>
              <a:spcAft>
                <a:spcPts val="1000"/>
              </a:spcAft>
              <a:defRPr sz="1600"/>
            </a:pPr>
            <a:r>
              <a:t>• Real-time ETL pipelines</a:t>
            </a:r>
          </a:p>
          <a:p>
            <a:pPr>
              <a:spcAft>
                <a:spcPts val="1000"/>
              </a:spcAft>
              <a:defRPr sz="1600"/>
            </a:pPr>
            <a:r>
              <a:t>• AI-ready data models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🛡️ Security &amp; Compliance:</a:t>
            </a:r>
          </a:p>
          <a:p>
            <a:pPr>
              <a:spcAft>
                <a:spcPts val="1000"/>
              </a:spcAft>
              <a:defRPr sz="1600"/>
            </a:pPr>
            <a:r>
              <a:t>• SOC 2 Type II compliance</a:t>
            </a:r>
          </a:p>
          <a:p>
            <a:pPr>
              <a:spcAft>
                <a:spcPts val="1000"/>
              </a:spcAft>
              <a:defRPr sz="1600"/>
            </a:pPr>
            <a:r>
              <a:t>• Role-based access controls</a:t>
            </a:r>
          </a:p>
          <a:p>
            <a:pPr>
              <a:spcAft>
                <a:spcPts val="1000"/>
              </a:spcAft>
              <a:defRPr sz="1600"/>
            </a:pPr>
            <a:r>
              <a:t>• Encrypted data at rest and in transit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AI Automation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Q2 2026 - Foundation:</a:t>
            </a:r>
          </a:p>
          <a:p>
            <a:pPr>
              <a:spcAft>
                <a:spcPts val="1200"/>
              </a:spcAft>
              <a:defRPr sz="1800"/>
            </a:pPr>
            <a:r>
              <a:t>  ✅ AI-powered lead scoring and routing</a:t>
            </a:r>
          </a:p>
          <a:p>
            <a:pPr>
              <a:spcAft>
                <a:spcPts val="1200"/>
              </a:spcAft>
              <a:defRPr sz="1800"/>
            </a:pPr>
            <a:r>
              <a:t>  ✅ Automated email personalization at scale</a:t>
            </a:r>
          </a:p>
          <a:p>
            <a:pPr>
              <a:spcAft>
                <a:spcPts val="1200"/>
              </a:spcAft>
              <a:defRPr sz="1800"/>
            </a:pPr>
            <a:r>
              <a:t>  ✅ Intelligent meeting scheduling and follow-ups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Q3 2026 - Optimization:</a:t>
            </a:r>
          </a:p>
          <a:p>
            <a:pPr>
              <a:spcAft>
                <a:spcPts val="1200"/>
              </a:spcAft>
              <a:defRPr sz="1800"/>
            </a:pPr>
            <a:r>
              <a:t>  🔄 Predictive deal scoring and risk alerts</a:t>
            </a:r>
          </a:p>
          <a:p>
            <a:pPr>
              <a:spcAft>
                <a:spcPts val="1200"/>
              </a:spcAft>
              <a:defRPr sz="1800"/>
            </a:pPr>
            <a:r>
              <a:t>  🔄 AI-generated proposal and contract content</a:t>
            </a:r>
          </a:p>
          <a:p>
            <a:pPr>
              <a:spcAft>
                <a:spcPts val="1200"/>
              </a:spcAft>
              <a:defRPr sz="1800"/>
            </a:pPr>
            <a:r>
              <a:t>  🔄 Automated competitive intelligence gathering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Q4 2026 - Advanced Intelligence:</a:t>
            </a:r>
          </a:p>
          <a:p>
            <a:pPr>
              <a:spcAft>
                <a:spcPts val="1200"/>
              </a:spcAft>
              <a:defRPr sz="1800"/>
            </a:pPr>
            <a:r>
              <a:t>  📅 Cross-platform revenue attribution</a:t>
            </a:r>
          </a:p>
          <a:p>
            <a:pPr>
              <a:spcAft>
                <a:spcPts val="1200"/>
              </a:spcAft>
              <a:defRPr sz="1800"/>
            </a:pPr>
            <a:r>
              <a:t>  📅 AI-driven customer health scoring</a:t>
            </a:r>
          </a:p>
          <a:p>
            <a:pPr>
              <a:spcAft>
                <a:spcPts val="1200"/>
              </a:spcAft>
              <a:defRPr sz="1800"/>
            </a:pPr>
            <a:r>
              <a:t>  📅 Autonomous renewal and expansion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Strategic GTM Metrics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💰 Revenue Metrics:</a:t>
            </a:r>
          </a:p>
          <a:p>
            <a:pPr>
              <a:spcAft>
                <a:spcPts val="1200"/>
              </a:spcAft>
              <a:defRPr sz="1800"/>
            </a:pPr>
            <a:r>
              <a:t>  • ARR Growth Rate | MRR Movement | Net Revenue Retention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📈 Pipeline Health:</a:t>
            </a:r>
          </a:p>
          <a:p>
            <a:pPr>
              <a:spcAft>
                <a:spcPts val="1200"/>
              </a:spcAft>
              <a:defRPr sz="1800"/>
            </a:pPr>
            <a:r>
              <a:t>  • Pipeline Coverage Ratio | Avg Deal Size | Win Rate by Segment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⚡ Efficiency Metrics:</a:t>
            </a:r>
          </a:p>
          <a:p>
            <a:pPr>
              <a:spcAft>
                <a:spcPts val="1200"/>
              </a:spcAft>
              <a:defRPr sz="1800"/>
            </a:pPr>
            <a:r>
              <a:t>  • Sales Cycle Length | CAC Payback Period | Magic Number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👥 Team Performance:</a:t>
            </a:r>
          </a:p>
          <a:p>
            <a:pPr>
              <a:spcAft>
                <a:spcPts val="1200"/>
              </a:spcAft>
              <a:defRPr sz="1800"/>
            </a:pPr>
            <a:r>
              <a:t>  • Quota Attainment | Ramp Time | Activity Metrics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🎯 Customer Success:</a:t>
            </a:r>
          </a:p>
          <a:p>
            <a:pPr>
              <a:spcAft>
                <a:spcPts val="1200"/>
              </a:spcAft>
              <a:defRPr sz="1800"/>
            </a:pPr>
            <a:r>
              <a:t>  • NPS Score | Customer Health Score | Expansion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Complete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Revenue Operations:</a:t>
            </a:r>
          </a:p>
          <a:p>
            <a:pPr>
              <a:spcAft>
                <a:spcPts val="1000"/>
              </a:spcAft>
              <a:defRPr sz="1600"/>
            </a:pPr>
            <a:r>
              <a:t>• Salesforce</a:t>
            </a:r>
          </a:p>
          <a:p>
            <a:pPr>
              <a:spcAft>
                <a:spcPts val="1000"/>
              </a:spcAft>
              <a:defRPr sz="1600"/>
            </a:pPr>
            <a:r>
              <a:t>• ChartMogul</a:t>
            </a:r>
          </a:p>
          <a:p>
            <a:pPr>
              <a:spcAft>
                <a:spcPts val="1000"/>
              </a:spcAft>
              <a:defRPr sz="1600"/>
            </a:pPr>
            <a:r>
              <a:t>• Gong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Sales Enablement:</a:t>
            </a:r>
          </a:p>
          <a:p>
            <a:pPr>
              <a:spcAft>
                <a:spcPts val="1000"/>
              </a:spcAft>
              <a:defRPr sz="1600"/>
            </a:pPr>
            <a:r>
              <a:t>• GTMBuddy</a:t>
            </a:r>
          </a:p>
          <a:p>
            <a:pPr>
              <a:spcAft>
                <a:spcPts val="1000"/>
              </a:spcAft>
              <a:defRPr sz="1600"/>
            </a:pPr>
            <a:r>
              <a:t>• Clay</a:t>
            </a:r>
          </a:p>
          <a:p>
            <a:pPr>
              <a:spcAft>
                <a:spcPts val="1000"/>
              </a:spcAft>
              <a:defRPr sz="1600"/>
            </a:pPr>
            <a:r>
              <a:t>• JustCall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Analytics &amp; Intelligence:</a:t>
            </a:r>
          </a:p>
          <a:p>
            <a:pPr>
              <a:spcAft>
                <a:spcPts val="1000"/>
              </a:spcAft>
              <a:defRPr sz="1600"/>
            </a:pPr>
            <a:r>
              <a:t>• Amplitude</a:t>
            </a:r>
          </a:p>
          <a:p>
            <a:pPr>
              <a:spcAft>
                <a:spcPts val="1000"/>
              </a:spcAft>
              <a:defRPr sz="1600"/>
            </a:pPr>
            <a:r>
              <a:t>• Custom BI Dashboards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AI &amp; Automation:</a:t>
            </a:r>
          </a:p>
          <a:p>
            <a:pPr>
              <a:spcAft>
                <a:spcPts val="1000"/>
              </a:spcAft>
              <a:defRPr sz="1600"/>
            </a:pPr>
            <a:r>
              <a:t>• Claude AI</a:t>
            </a:r>
          </a:p>
          <a:p>
            <a:pPr>
              <a:spcAft>
                <a:spcPts val="1000"/>
              </a:spcAft>
              <a:defRPr sz="1600"/>
            </a:pPr>
            <a:r>
              <a:t>• Zapier/Make</a:t>
            </a:r>
          </a:p>
          <a:p>
            <a:pPr>
              <a:spcAft>
                <a:spcPts val="1000"/>
              </a:spcAft>
              <a:defRPr sz="1600"/>
            </a:pPr>
            <a:r>
              <a:t>• Custom integrations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Impact &amp;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📊 Operational Efficiency:</a:t>
            </a:r>
          </a:p>
          <a:p>
            <a:pPr>
              <a:spcAft>
                <a:spcPts val="1200"/>
              </a:spcAft>
              <a:defRPr sz="1800"/>
            </a:pPr>
            <a:r>
              <a:t>  • 60% reduction in manual data entry</a:t>
            </a:r>
          </a:p>
          <a:p>
            <a:pPr>
              <a:spcAft>
                <a:spcPts val="1200"/>
              </a:spcAft>
              <a:defRPr sz="1800"/>
            </a:pPr>
            <a:r>
              <a:t>  • 45% faster lead response time</a:t>
            </a:r>
          </a:p>
          <a:p>
            <a:pPr>
              <a:spcAft>
                <a:spcPts val="1200"/>
              </a:spcAft>
              <a:defRPr sz="1800"/>
            </a:pPr>
            <a:r>
              <a:t>  • 35% improvement in forecast accuracy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💼 Revenue Impact:</a:t>
            </a:r>
          </a:p>
          <a:p>
            <a:pPr>
              <a:spcAft>
                <a:spcPts val="1200"/>
              </a:spcAft>
              <a:defRPr sz="1800"/>
            </a:pPr>
            <a:r>
              <a:t>  • 25% increase in win rate</a:t>
            </a:r>
          </a:p>
          <a:p>
            <a:pPr>
              <a:spcAft>
                <a:spcPts val="1200"/>
              </a:spcAft>
              <a:defRPr sz="1800"/>
            </a:pPr>
            <a:r>
              <a:t>  • 40% shorter sales cycles</a:t>
            </a:r>
          </a:p>
          <a:p>
            <a:pPr>
              <a:spcAft>
                <a:spcPts val="1200"/>
              </a:spcAft>
              <a:defRPr sz="1800"/>
            </a:pPr>
            <a:r>
              <a:t>  • 20% higher average deal size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🚀 Team Productivity:</a:t>
            </a:r>
          </a:p>
          <a:p>
            <a:pPr>
              <a:spcAft>
                <a:spcPts val="1200"/>
              </a:spcAft>
              <a:defRPr sz="1800"/>
            </a:pPr>
            <a:r>
              <a:t>  • 50% more time spent on customer-facing activities</a:t>
            </a:r>
          </a:p>
          <a:p>
            <a:pPr>
              <a:spcAft>
                <a:spcPts val="1200"/>
              </a:spcAft>
              <a:defRPr sz="1800"/>
            </a:pPr>
            <a:r>
              <a:t>  • 30% faster rep ramp time</a:t>
            </a:r>
          </a:p>
          <a:p>
            <a:pPr>
              <a:spcAft>
                <a:spcPts val="1200"/>
              </a:spcAft>
              <a:defRPr sz="1800"/>
            </a:pPr>
            <a:r>
              <a:t>  • 85% user adoption rate across platforms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Building the Future of GTM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• Data-Driven • Customer-Centric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